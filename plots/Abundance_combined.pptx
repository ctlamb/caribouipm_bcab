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999538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5" d="100"/>
          <a:sy n="105" d="100"/>
        </p:scale>
        <p:origin x="2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296173"/>
            <a:ext cx="7649607" cy="275734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4159854"/>
            <a:ext cx="6749654" cy="1912175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8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6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974512"/>
            <a:ext cx="7762102" cy="3294515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5300194"/>
            <a:ext cx="7762102" cy="1732508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108344"/>
            <a:ext cx="382480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108344"/>
            <a:ext cx="382480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97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421671"/>
            <a:ext cx="7762102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941510"/>
            <a:ext cx="3807226" cy="95150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893014"/>
            <a:ext cx="380722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941510"/>
            <a:ext cx="3825976" cy="951504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893014"/>
            <a:ext cx="382597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0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8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9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28002"/>
            <a:ext cx="2902585" cy="1848009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140341"/>
            <a:ext cx="4556016" cy="5628360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376011"/>
            <a:ext cx="2902585" cy="4401855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2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28002"/>
            <a:ext cx="2902585" cy="1848009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140341"/>
            <a:ext cx="4556016" cy="5628360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376011"/>
            <a:ext cx="2902585" cy="4401855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3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421669"/>
            <a:ext cx="1940525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421669"/>
            <a:ext cx="5709082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2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421671"/>
            <a:ext cx="7762102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108344"/>
            <a:ext cx="7762102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7340703"/>
            <a:ext cx="202489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0D653-7713-C643-991F-EBBA140D9C6E}" type="datetimeFigureOut">
              <a:rPr lang="en-US" smtClean="0"/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7340703"/>
            <a:ext cx="303734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7340703"/>
            <a:ext cx="2024896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48467-83B7-2D4A-9266-AA24B67C8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0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alendar&#10;&#10;Description automatically generated">
            <a:extLst>
              <a:ext uri="{FF2B5EF4-FFF2-40B4-BE49-F238E27FC236}">
                <a16:creationId xmlns:a16="http://schemas.microsoft.com/office/drawing/2014/main" id="{1DBCE5F1-89B3-4B1F-D437-5949F849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3" y="4323146"/>
            <a:ext cx="5201314" cy="3467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7A8CE3-FB9F-A430-40F5-D10C83251960}"/>
              </a:ext>
            </a:extLst>
          </p:cNvPr>
          <p:cNvSpPr txBox="1"/>
          <p:nvPr/>
        </p:nvSpPr>
        <p:spPr>
          <a:xfrm>
            <a:off x="5222976" y="4544816"/>
            <a:ext cx="3771579" cy="2929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890" dirty="0"/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A6856284-E5E6-D64A-A0BC-697CDE0CE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487" y="4518438"/>
            <a:ext cx="2428003" cy="269778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5ED815-5612-CE21-B215-70F23E0226DE}"/>
              </a:ext>
            </a:extLst>
          </p:cNvPr>
          <p:cNvSpPr txBox="1"/>
          <p:nvPr/>
        </p:nvSpPr>
        <p:spPr>
          <a:xfrm>
            <a:off x="7721876" y="4777315"/>
            <a:ext cx="1257075" cy="286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2" i="1" dirty="0">
                <a:latin typeface="Abadi MT Condensed Light" panose="020B0306030101010103" pitchFamily="34" charset="77"/>
              </a:rPr>
              <a:t>% habitat disturbed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CA7703A6-7B67-2334-DDBE-8A452542DE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83430" y="5068099"/>
            <a:ext cx="1371271" cy="385382"/>
          </a:xfrm>
          <a:prstGeom prst="curvedConnector3">
            <a:avLst>
              <a:gd name="adj1" fmla="val 22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6AE2A451-57FA-C2A5-2768-17BB4FD866F3}"/>
              </a:ext>
            </a:extLst>
          </p:cNvPr>
          <p:cNvCxnSpPr>
            <a:cxnSpLocks/>
            <a:stCxn id="46" idx="2"/>
          </p:cNvCxnSpPr>
          <p:nvPr/>
        </p:nvCxnSpPr>
        <p:spPr>
          <a:xfrm rot="5400000" flipH="1">
            <a:off x="7805393" y="5031795"/>
            <a:ext cx="40690" cy="1177830"/>
          </a:xfrm>
          <a:prstGeom prst="curvedConnector4">
            <a:avLst>
              <a:gd name="adj1" fmla="val -561809"/>
              <a:gd name="adj2" fmla="val 7134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40D48F1-1B6E-0AFD-B6A7-421090A5479F}"/>
              </a:ext>
            </a:extLst>
          </p:cNvPr>
          <p:cNvSpPr txBox="1"/>
          <p:nvPr/>
        </p:nvSpPr>
        <p:spPr>
          <a:xfrm>
            <a:off x="5271185" y="4788964"/>
            <a:ext cx="621216" cy="480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2" i="1" dirty="0">
                <a:latin typeface="Abadi MT Condensed Light" panose="020B0306030101010103" pitchFamily="34" charset="77"/>
              </a:rPr>
              <a:t>Label in Fig 1A</a:t>
            </a: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1FFC57BC-032F-915B-6907-42597B205756}"/>
              </a:ext>
            </a:extLst>
          </p:cNvPr>
          <p:cNvCxnSpPr>
            <a:cxnSpLocks/>
            <a:stCxn id="34" idx="2"/>
          </p:cNvCxnSpPr>
          <p:nvPr/>
        </p:nvCxnSpPr>
        <p:spPr>
          <a:xfrm rot="16200000" flipH="1">
            <a:off x="5849000" y="5002530"/>
            <a:ext cx="42761" cy="57717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53D8663-914C-EBC5-3D59-0268E4735513}"/>
              </a:ext>
            </a:extLst>
          </p:cNvPr>
          <p:cNvSpPr txBox="1"/>
          <p:nvPr/>
        </p:nvSpPr>
        <p:spPr>
          <a:xfrm>
            <a:off x="7911790" y="5354502"/>
            <a:ext cx="1005725" cy="286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62" i="1" dirty="0">
                <a:latin typeface="Abadi MT Condensed Light" panose="020B0306030101010103" pitchFamily="34" charset="77"/>
              </a:rPr>
              <a:t>Years with data</a:t>
            </a:r>
          </a:p>
        </p:txBody>
      </p: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9D8594CA-916C-2126-D047-326E68D7581B}"/>
              </a:ext>
            </a:extLst>
          </p:cNvPr>
          <p:cNvCxnSpPr>
            <a:cxnSpLocks/>
          </p:cNvCxnSpPr>
          <p:nvPr/>
        </p:nvCxnSpPr>
        <p:spPr>
          <a:xfrm rot="10800000">
            <a:off x="7352780" y="5792175"/>
            <a:ext cx="559008" cy="22101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1307E0-D0D6-B0C1-AB09-4A086AA9AE7A}"/>
              </a:ext>
            </a:extLst>
          </p:cNvPr>
          <p:cNvSpPr txBox="1"/>
          <p:nvPr/>
        </p:nvSpPr>
        <p:spPr>
          <a:xfrm>
            <a:off x="7922393" y="5937587"/>
            <a:ext cx="1077145" cy="1449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2" i="1" dirty="0">
                <a:latin typeface="Abadi MT Condensed Light" panose="020B0306030101010103" pitchFamily="34" charset="77"/>
              </a:rPr>
              <a:t>Recovery measures implemented</a:t>
            </a:r>
          </a:p>
          <a:p>
            <a:r>
              <a:rPr lang="en-CA" sz="839" dirty="0">
                <a:solidFill>
                  <a:srgbClr val="000000"/>
                </a:solidFill>
                <a:latin typeface="Abadi MT Condensed Light" panose="020B0306030101010103" pitchFamily="34" charset="77"/>
              </a:rPr>
              <a:t>w = wolf reduction</a:t>
            </a:r>
          </a:p>
          <a:p>
            <a:r>
              <a:rPr lang="en-CA" sz="839" dirty="0">
                <a:solidFill>
                  <a:srgbClr val="000000"/>
                </a:solidFill>
                <a:latin typeface="Abadi MT Condensed Light" panose="020B0306030101010103" pitchFamily="34" charset="77"/>
              </a:rPr>
              <a:t>t = translocation</a:t>
            </a:r>
          </a:p>
          <a:p>
            <a:r>
              <a:rPr lang="en-CA" sz="839" dirty="0">
                <a:solidFill>
                  <a:srgbClr val="000000"/>
                </a:solidFill>
                <a:latin typeface="Abadi MT Condensed Light" panose="020B0306030101010103" pitchFamily="34" charset="77"/>
              </a:rPr>
              <a:t>m = moose reduction</a:t>
            </a:r>
          </a:p>
          <a:p>
            <a:r>
              <a:rPr lang="en-CA" sz="839" dirty="0">
                <a:solidFill>
                  <a:srgbClr val="000000"/>
                </a:solidFill>
                <a:latin typeface="Abadi MT Condensed Light" panose="020B0306030101010103" pitchFamily="34" charset="77"/>
              </a:rPr>
              <a:t>s = sterilization</a:t>
            </a:r>
          </a:p>
          <a:p>
            <a:r>
              <a:rPr lang="en-CA" sz="839" dirty="0">
                <a:solidFill>
                  <a:srgbClr val="000000"/>
                </a:solidFill>
                <a:latin typeface="Abadi MT Condensed Light" panose="020B0306030101010103" pitchFamily="34" charset="77"/>
              </a:rPr>
              <a:t>p = pen</a:t>
            </a:r>
          </a:p>
          <a:p>
            <a:r>
              <a:rPr lang="en-CA" sz="839" dirty="0">
                <a:solidFill>
                  <a:srgbClr val="000000"/>
                </a:solidFill>
                <a:latin typeface="Abadi MT Condensed Light" panose="020B0306030101010103" pitchFamily="34" charset="77"/>
              </a:rPr>
              <a:t>f = feeding</a:t>
            </a:r>
            <a:endParaRPr lang="en-US" sz="839" i="1" dirty="0">
              <a:latin typeface="Abadi MT Condensed Light" panose="020B03060301010101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D6E685-BA50-A14E-023E-EFF4811899B6}"/>
              </a:ext>
            </a:extLst>
          </p:cNvPr>
          <p:cNvSpPr txBox="1"/>
          <p:nvPr/>
        </p:nvSpPr>
        <p:spPr>
          <a:xfrm>
            <a:off x="5222977" y="6906634"/>
            <a:ext cx="1354120" cy="480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2" i="1" dirty="0">
                <a:latin typeface="Abadi MT Condensed Light" panose="020B0306030101010103" pitchFamily="34" charset="77"/>
              </a:rPr>
              <a:t>IPM posterior median and 90% interval</a:t>
            </a:r>
          </a:p>
        </p:txBody>
      </p: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EEA766DD-5875-AFD7-33E7-3FB5203CC25A}"/>
              </a:ext>
            </a:extLst>
          </p:cNvPr>
          <p:cNvCxnSpPr>
            <a:cxnSpLocks/>
            <a:stCxn id="58" idx="0"/>
          </p:cNvCxnSpPr>
          <p:nvPr/>
        </p:nvCxnSpPr>
        <p:spPr>
          <a:xfrm rot="5400000" flipH="1" flipV="1">
            <a:off x="5708236" y="6289861"/>
            <a:ext cx="808575" cy="4249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E2AA331-BC84-4C16-4FAB-C338A7B4B0CB}"/>
              </a:ext>
            </a:extLst>
          </p:cNvPr>
          <p:cNvSpPr txBox="1"/>
          <p:nvPr/>
        </p:nvSpPr>
        <p:spPr>
          <a:xfrm>
            <a:off x="6600399" y="7072941"/>
            <a:ext cx="1114233" cy="286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62" i="1" dirty="0">
                <a:latin typeface="Abadi MT Condensed Light" panose="020B0306030101010103" pitchFamily="34" charset="77"/>
              </a:rPr>
              <a:t>Observed counts</a:t>
            </a:r>
          </a:p>
        </p:txBody>
      </p:sp>
      <p:cxnSp>
        <p:nvCxnSpPr>
          <p:cNvPr id="66" name="Curved Connector 65">
            <a:extLst>
              <a:ext uri="{FF2B5EF4-FFF2-40B4-BE49-F238E27FC236}">
                <a16:creationId xmlns:a16="http://schemas.microsoft.com/office/drawing/2014/main" id="{F5F304D5-0D8A-2430-6802-9E770328F203}"/>
              </a:ext>
            </a:extLst>
          </p:cNvPr>
          <p:cNvCxnSpPr>
            <a:cxnSpLocks/>
            <a:stCxn id="65" idx="1"/>
          </p:cNvCxnSpPr>
          <p:nvPr/>
        </p:nvCxnSpPr>
        <p:spPr>
          <a:xfrm rot="10800000" flipH="1">
            <a:off x="6600398" y="6154058"/>
            <a:ext cx="45717" cy="1062161"/>
          </a:xfrm>
          <a:prstGeom prst="curvedConnector4">
            <a:avLst>
              <a:gd name="adj1" fmla="val -182551"/>
              <a:gd name="adj2" fmla="val 7587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7443929-8348-C8FE-FDDA-91D6AC0466F2}"/>
              </a:ext>
            </a:extLst>
          </p:cNvPr>
          <p:cNvSpPr/>
          <p:nvPr/>
        </p:nvSpPr>
        <p:spPr>
          <a:xfrm>
            <a:off x="6028509" y="5176106"/>
            <a:ext cx="1324270" cy="385383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A65D7-FC6B-7A9D-3A20-F822AF98853A}"/>
              </a:ext>
            </a:extLst>
          </p:cNvPr>
          <p:cNvSpPr txBox="1"/>
          <p:nvPr/>
        </p:nvSpPr>
        <p:spPr>
          <a:xfrm>
            <a:off x="6291284" y="4570244"/>
            <a:ext cx="1430591" cy="480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62" i="1" dirty="0">
                <a:latin typeface="Abadi MT Condensed Light" panose="020B0306030101010103" pitchFamily="34" charset="77"/>
              </a:rPr>
              <a:t>Red filled if functionally extirpated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4B2E3E10-15A7-1DB6-1A93-4FC3F020926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73989" y="4921554"/>
            <a:ext cx="348268" cy="830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calendar&#10;&#10;Description automatically generated">
            <a:extLst>
              <a:ext uri="{FF2B5EF4-FFF2-40B4-BE49-F238E27FC236}">
                <a16:creationId xmlns:a16="http://schemas.microsoft.com/office/drawing/2014/main" id="{58E7FFD9-79AE-A8AC-790C-1B4C72E18C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944"/>
          <a:stretch/>
        </p:blipFill>
        <p:spPr>
          <a:xfrm>
            <a:off x="-1" y="0"/>
            <a:ext cx="8978951" cy="4312592"/>
          </a:xfrm>
          <a:prstGeom prst="rect">
            <a:avLst/>
          </a:prstGeom>
        </p:spPr>
      </p:pic>
      <p:pic>
        <p:nvPicPr>
          <p:cNvPr id="23" name="Picture 2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7F3C7C8F-30D5-39EC-9AD7-0944603858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706" t="89573" r="684" b="6930"/>
          <a:stretch/>
        </p:blipFill>
        <p:spPr>
          <a:xfrm>
            <a:off x="5271185" y="4294755"/>
            <a:ext cx="3646330" cy="16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49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61</TotalTime>
  <Words>47</Words>
  <Application>Microsoft Macintosh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Abadi MT Condensed Light</vt:lpstr>
      <vt:lpstr>Arial</vt:lpstr>
      <vt:lpstr>Calibri</vt:lpstr>
      <vt:lpstr>Calibri Light</vt:lpstr>
      <vt:lpstr>Office Theme 2013 - 2022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Clayton Lamb</dc:creator>
  <cp:lastModifiedBy>Clayton Lamb</cp:lastModifiedBy>
  <cp:revision>3</cp:revision>
  <dcterms:created xsi:type="dcterms:W3CDTF">2023-01-02T18:29:00Z</dcterms:created>
  <dcterms:modified xsi:type="dcterms:W3CDTF">2023-01-02T21:33:17Z</dcterms:modified>
</cp:coreProperties>
</file>